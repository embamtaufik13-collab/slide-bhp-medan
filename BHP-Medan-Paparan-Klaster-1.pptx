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nCNz2vAlXrSx3tHg6hlc0gCZ4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236144-A4EE-4B44-B41C-F018C5874E7C}">
  <a:tblStyle styleId="{3C236144-A4EE-4B44-B41C-F018C5874E7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ONTEN">
  <p:cSld name="KONTEN">
    <p:bg>
      <p:bgPr>
        <a:solidFill>
          <a:srgbClr val="FFFFF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4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Balai Harta Peninggalan Medan  |  RDP Komisi XIII DPR RI, 6 Oktober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4"/>
          <p:cNvSpPr txBox="1"/>
          <p:nvPr>
            <p:ph idx="1" type="body"/>
          </p:nvPr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2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type="title"/>
          </p:nvPr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  <a:defRPr b="1" i="0" sz="28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2" type="sldNum"/>
          </p:nvPr>
        </p:nvSpPr>
        <p:spPr>
          <a:xfrm>
            <a:off x="1133856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idx="12" type="sldNum"/>
          </p:nvPr>
        </p:nvSpPr>
        <p:spPr>
          <a:xfrm>
            <a:off x="1133856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mbamtaufik13-collab.github.io/Slide-bhp-medan/" TargetMode="External"/><Relationship Id="rId4" Type="http://schemas.openxmlformats.org/officeDocument/2006/relationships/hyperlink" Target="https://embamtaufik13-collab.github.io/Slide-bhp-medan/" TargetMode="External"/><Relationship Id="rId9" Type="http://schemas.openxmlformats.org/officeDocument/2006/relationships/hyperlink" Target="https://embamtaufik13-collab.github.io/Slide-bhp-medan/" TargetMode="External"/><Relationship Id="rId5" Type="http://schemas.openxmlformats.org/officeDocument/2006/relationships/hyperlink" Target="https://embamtaufik13-collab.github.io/Slide-bhp-medan/" TargetMode="External"/><Relationship Id="rId6" Type="http://schemas.openxmlformats.org/officeDocument/2006/relationships/hyperlink" Target="https://embamtaufik13-collab.github.io/Slide-bhp-medan/" TargetMode="External"/><Relationship Id="rId7" Type="http://schemas.openxmlformats.org/officeDocument/2006/relationships/image" Target="../media/image1.png"/><Relationship Id="rId8" Type="http://schemas.openxmlformats.org/officeDocument/2006/relationships/hyperlink" Target="https://embamtaufik13-collab.github.io/Slide-bhp-medan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mbamtaufik13-collab.github.io/Slide-bhp-medan/" TargetMode="External"/><Relationship Id="rId4" Type="http://schemas.openxmlformats.org/officeDocument/2006/relationships/hyperlink" Target="https://embamtaufik13-collab.github.io/Slide-bhp-medan/" TargetMode="External"/><Relationship Id="rId9" Type="http://schemas.openxmlformats.org/officeDocument/2006/relationships/hyperlink" Target="https://embamtaufik13-collab.github.io/Slide-bhp-medan/" TargetMode="External"/><Relationship Id="rId5" Type="http://schemas.openxmlformats.org/officeDocument/2006/relationships/hyperlink" Target="https://embamtaufik13-collab.github.io/Slide-bhp-medan/" TargetMode="External"/><Relationship Id="rId6" Type="http://schemas.openxmlformats.org/officeDocument/2006/relationships/hyperlink" Target="https://embamtaufik13-collab.github.io/Slide-bhp-medan/" TargetMode="External"/><Relationship Id="rId7" Type="http://schemas.openxmlformats.org/officeDocument/2006/relationships/image" Target="../media/image1.png"/><Relationship Id="rId8" Type="http://schemas.openxmlformats.org/officeDocument/2006/relationships/hyperlink" Target="https://embamtaufik13-collab.github.io/Slide-bhp-meda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/>
          <p:nvPr>
            <p:ph idx="1" type="body"/>
          </p:nvPr>
        </p:nvSpPr>
        <p:spPr>
          <a:xfrm>
            <a:off x="457200" y="152400"/>
            <a:ext cx="112471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50"/>
              <a:buNone/>
            </a:pPr>
            <a:r>
              <a:rPr b="1" lang="en-US" sz="950">
                <a:solidFill>
                  <a:schemeClr val="accent2"/>
                </a:solidFill>
              </a:rPr>
              <a:t>POKOK BAHASAN 1 KEWENANGAN DAN KOORDINASI  ·  KEDUDUKAN DAN PEMBAGIAN PERAN KURATOR</a:t>
            </a:r>
            <a:endParaRPr sz="950"/>
          </a:p>
        </p:txBody>
      </p:sp>
      <p:sp>
        <p:nvSpPr>
          <p:cNvPr id="19" name="Google Shape;19;p1"/>
          <p:cNvSpPr txBox="1"/>
          <p:nvPr>
            <p:ph type="title"/>
          </p:nvPr>
        </p:nvSpPr>
        <p:spPr>
          <a:xfrm>
            <a:off x="457200" y="304800"/>
            <a:ext cx="86360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Jawaban BHP Medan atas Tiga Pertanyaan Klaster 1</a:t>
            </a:r>
            <a:endParaRPr sz="2400"/>
          </a:p>
        </p:txBody>
      </p:sp>
      <p:sp>
        <p:nvSpPr>
          <p:cNvPr id="20" name="Google Shape;20;p1"/>
          <p:cNvSpPr txBox="1"/>
          <p:nvPr/>
        </p:nvSpPr>
        <p:spPr>
          <a:xfrm>
            <a:off x="457200" y="736600"/>
            <a:ext cx="8636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rPr>
              <a:t>Klaster Tumpang Tindih Kewenangan. </a:t>
            </a:r>
            <a:r>
              <a:rPr b="0" i="0" lang="en-US" sz="11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Tiga kotak di bawah menjawab Pertanyaan 1, 2, dan 3 secara berurutan, masing-masing dengan bukti dari perkara BHP Medan.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143000"/>
            <a:ext cx="11277600" cy="2032000"/>
          </a:xfrm>
          <a:prstGeom prst="roundRect">
            <a:avLst>
              <a:gd fmla="val 2577" name="adj"/>
            </a:avLst>
          </a:prstGeom>
          <a:solidFill>
            <a:srgbClr val="F4F4F6"/>
          </a:solidFill>
          <a:ln cap="flat" cmpd="sng" w="15875">
            <a:solidFill>
              <a:srgbClr val="A8868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09600" y="1244600"/>
            <a:ext cx="381000" cy="381000"/>
          </a:xfrm>
          <a:prstGeom prst="ellipse">
            <a:avLst/>
          </a:prstGeom>
          <a:solidFill>
            <a:srgbClr val="7A1F2B"/>
          </a:solidFill>
          <a:ln cap="flat" cmpd="sng" w="12700">
            <a:solidFill>
              <a:srgbClr val="7A1F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609600" y="1244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C9A24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1066800" y="12192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A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8A6A22"/>
                </a:solidFill>
                <a:latin typeface="Calibri"/>
                <a:ea typeface="Calibri"/>
                <a:cs typeface="Calibri"/>
                <a:sym typeface="Calibri"/>
              </a:rPr>
              <a:t>PERTANYAAN 1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Mekanisme dan Kendala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584200" y="1701800"/>
            <a:ext cx="25908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Bagaimana mekanisme BHP sebagai kurator, dan adakah kendala saat berhadapan dengan kurator perseorangan?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3276600" y="1193800"/>
            <a:ext cx="838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-279400" lvl="0" marL="28575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7B1E2B"/>
              </a:buClr>
              <a:buSzPts val="1600"/>
              <a:buFont typeface="Cambria"/>
              <a:buAutoNum type="arabicPeriod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Kendala pertama adalah ketika kurator BHP bekerja sama dengan kurator perseorangan, belum adanya aturan pembagian imbalan dan tanggung jawab. Oleh karena itu, perlu aturan tegas tentang pembagian imbalan jasa.</a:t>
            </a:r>
            <a:endParaRPr sz="1300"/>
          </a:p>
          <a:p>
            <a:pPr indent="-279400" lvl="0" marL="285750" marR="0" rtl="0" algn="just">
              <a:lnSpc>
                <a:spcPct val="84000"/>
              </a:lnSpc>
              <a:spcBef>
                <a:spcPts val="250"/>
              </a:spcBef>
              <a:spcAft>
                <a:spcPts val="0"/>
              </a:spcAft>
              <a:buClr>
                <a:srgbClr val="7B1E2B"/>
              </a:buClr>
              <a:buSzPts val="1600"/>
              <a:buFont typeface="Cambria"/>
              <a:buAutoNum type="arabicPeriod"/>
            </a:pPr>
            <a:r>
              <a:rPr lang="en-US" sz="16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Kendala kedua adalah dalam komunikasi dalam hal PKPU oleh kurator perseorangan dan kepailitan oleh Kurator BHP. Dengan demikian, diusulkan BHP juga menjadi pengurus (PKPU).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3251200"/>
            <a:ext cx="11277600" cy="1447800"/>
          </a:xfrm>
          <a:prstGeom prst="roundRect">
            <a:avLst>
              <a:gd fmla="val 2577" name="adj"/>
            </a:avLst>
          </a:prstGeom>
          <a:solidFill>
            <a:srgbClr val="F4F4F6"/>
          </a:solidFill>
          <a:ln cap="flat" cmpd="sng" w="15875">
            <a:solidFill>
              <a:srgbClr val="A8868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09600" y="3352800"/>
            <a:ext cx="381000" cy="381000"/>
          </a:xfrm>
          <a:prstGeom prst="ellipse">
            <a:avLst/>
          </a:prstGeom>
          <a:solidFill>
            <a:srgbClr val="7A1F2B"/>
          </a:solidFill>
          <a:ln cap="flat" cmpd="sng" w="12700">
            <a:solidFill>
              <a:srgbClr val="7A1F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609600" y="3352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C9A24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1066800" y="33274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A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8A6A22"/>
                </a:solidFill>
                <a:latin typeface="Calibri"/>
                <a:ea typeface="Calibri"/>
                <a:cs typeface="Calibri"/>
                <a:sym typeface="Calibri"/>
              </a:rPr>
              <a:t>PERTANYAAN 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Pemisahan Peran BHP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584200" y="3810000"/>
            <a:ext cx="2590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Perlukah pemisahan tegas peran BHP sebagai balai harta atau wali pengawas dengan peran kurator perseorangan?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711200" y="3708400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711200" y="3708400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3276600" y="3302000"/>
            <a:ext cx="838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Perlu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karena tugas keperdataan BHP dan tugas BHP sebagai kurator adalah dua hal yang berbeda. Yang dipisahkan adalah dasar hukum, pelaksanaan, dan pertanggungjawabannya.</a:t>
            </a:r>
            <a:endParaRPr sz="1300"/>
          </a:p>
          <a:p>
            <a:pPr indent="0" lvl="0" marL="0" marR="0" rtl="0" algn="just">
              <a:lnSpc>
                <a:spcPct val="8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Dalam kepailitan, BHP berkedudukan sebagai kurator sebagaimana kurator perseorangan yang ditunjuk pengadilan. Sedangkan dalam tugas pokok dan fungsi lain, BHP berkedudukan sebagai wali pengawas,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pengampu pengawas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dll sebagaimana yang diatur dalam KUHPerdata.</a:t>
            </a:r>
            <a:endParaRPr sz="1300"/>
          </a:p>
        </p:txBody>
      </p:sp>
      <p:sp>
        <p:nvSpPr>
          <p:cNvPr id="35" name="Google Shape;35;p1"/>
          <p:cNvSpPr/>
          <p:nvPr/>
        </p:nvSpPr>
        <p:spPr>
          <a:xfrm>
            <a:off x="457200" y="4775200"/>
            <a:ext cx="11277600" cy="1600200"/>
          </a:xfrm>
          <a:prstGeom prst="roundRect">
            <a:avLst>
              <a:gd fmla="val 2577" name="adj"/>
            </a:avLst>
          </a:prstGeom>
          <a:solidFill>
            <a:srgbClr val="F4F4F6"/>
          </a:solidFill>
          <a:ln cap="flat" cmpd="sng" w="15875">
            <a:solidFill>
              <a:srgbClr val="A8868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09600" y="4876800"/>
            <a:ext cx="381000" cy="381000"/>
          </a:xfrm>
          <a:prstGeom prst="ellipse">
            <a:avLst/>
          </a:prstGeom>
          <a:solidFill>
            <a:srgbClr val="7A1F2B"/>
          </a:solidFill>
          <a:ln cap="flat" cmpd="sng" w="12700">
            <a:solidFill>
              <a:srgbClr val="7A1F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 txBox="1"/>
          <p:nvPr/>
        </p:nvSpPr>
        <p:spPr>
          <a:xfrm>
            <a:off x="609600" y="48768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4A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C9A24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1066800" y="4851400"/>
            <a:ext cx="2184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A2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8A6A22"/>
                </a:solidFill>
                <a:latin typeface="Calibri"/>
                <a:ea typeface="Calibri"/>
                <a:cs typeface="Calibri"/>
                <a:sym typeface="Calibri"/>
              </a:rPr>
              <a:t>PERTANYAAN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7A1F2B"/>
                </a:solidFill>
                <a:latin typeface="Cambria"/>
                <a:ea typeface="Cambria"/>
                <a:cs typeface="Cambria"/>
                <a:sym typeface="Cambria"/>
              </a:rPr>
              <a:t>Kewajiban Memakai BHP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584200" y="5334000"/>
            <a:ext cx="2590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Pandangan BHP tentang wajib memakai kurator BHP pada kasus tertentu (debitor tanpa ahli waris, harta tidak terurus)?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3276600" y="4826000"/>
            <a:ext cx="838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Autofit/>
          </a:bodyPr>
          <a:lstStyle/>
          <a:p>
            <a:pPr indent="0" lvl="0" marL="0" marR="0" rtl="0" algn="just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BHP setuju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dan hal tersebut sudah semestinya diatur untuk perkara khusus seperti debitor yang meninggal tanpa ahli waris atau hartanya tidak terurus,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debitor yang tidak diketahui keberadaannya, perkara yang ahli waris atau pihak yang berkepentingan masih di bawah umur atau dalam pengampuan,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perkara pekerja, perkara dengan harta kecil, dan perkara yang kehilangan kurator.</a:t>
            </a:r>
            <a:endParaRPr sz="1300"/>
          </a:p>
          <a:p>
            <a:pPr indent="0" lvl="0" marL="0" marR="0" rtl="0" algn="just">
              <a:lnSpc>
                <a:spcPct val="84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 luar itu, para pihak tetap bebas memilih kurator. RUU Profesi Kurator cukup memuat dasar penugasan ini, sedangkan kriteria dan tata cara penunjukannya diatur dalam RUU Kepailitan dan PKPU.</a:t>
            </a:r>
            <a:endParaRPr sz="1300"/>
          </a:p>
        </p:txBody>
      </p:sp>
      <p:cxnSp>
        <p:nvCxnSpPr>
          <p:cNvPr id="41" name="Google Shape;41;p1"/>
          <p:cNvCxnSpPr/>
          <p:nvPr/>
        </p:nvCxnSpPr>
        <p:spPr>
          <a:xfrm>
            <a:off x="3187700" y="1244600"/>
            <a:ext cx="0" cy="1270000"/>
          </a:xfrm>
          <a:prstGeom prst="straightConnector1">
            <a:avLst/>
          </a:prstGeom>
          <a:noFill/>
          <a:ln cap="flat" cmpd="sng" w="1587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1"/>
          <p:cNvCxnSpPr/>
          <p:nvPr/>
        </p:nvCxnSpPr>
        <p:spPr>
          <a:xfrm>
            <a:off x="3187700" y="3352800"/>
            <a:ext cx="0" cy="1270000"/>
          </a:xfrm>
          <a:prstGeom prst="straightConnector1">
            <a:avLst/>
          </a:prstGeom>
          <a:noFill/>
          <a:ln cap="flat" cmpd="sng" w="1587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1"/>
          <p:cNvCxnSpPr/>
          <p:nvPr/>
        </p:nvCxnSpPr>
        <p:spPr>
          <a:xfrm>
            <a:off x="3187700" y="4876800"/>
            <a:ext cx="0" cy="1422400"/>
          </a:xfrm>
          <a:prstGeom prst="straightConnector1">
            <a:avLst/>
          </a:prstGeom>
          <a:noFill/>
          <a:ln cap="flat" cmpd="sng" w="15875">
            <a:solidFill>
              <a:srgbClr val="C9A0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"/>
          <p:cNvSpPr txBox="1"/>
          <p:nvPr/>
        </p:nvSpPr>
        <p:spPr>
          <a:xfrm>
            <a:off x="4191000" y="6489700"/>
            <a:ext cx="7048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Sumber: Buku Register Kepailitan dan laporan pengurusan BHP Medan; SIPP PN Medan per 2 Oktober 2026, diolah. Dihitung per putusan pailit, bukan per permohonan.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>
            <a:hlinkClick r:id="rId3"/>
          </p:cNvPr>
          <p:cNvSpPr/>
          <p:nvPr/>
        </p:nvSpPr>
        <p:spPr>
          <a:xfrm>
            <a:off x="9189720" y="-31566"/>
            <a:ext cx="2615184" cy="566928"/>
          </a:xfrm>
          <a:prstGeom prst="roundRect">
            <a:avLst>
              <a:gd fmla="val 50000" name="adj"/>
            </a:avLst>
          </a:prstGeom>
          <a:solidFill>
            <a:srgbClr val="C9A24A">
              <a:alpha val="20000"/>
            </a:srgbClr>
          </a:solidFill>
          <a:ln cap="flat" cmpd="sng" w="22225">
            <a:solidFill>
              <a:srgbClr val="C9A24A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>
            <a:hlinkClick r:id="rId4"/>
          </p:cNvPr>
          <p:cNvSpPr/>
          <p:nvPr/>
        </p:nvSpPr>
        <p:spPr>
          <a:xfrm>
            <a:off x="9262872" y="23298"/>
            <a:ext cx="2468880" cy="457200"/>
          </a:xfrm>
          <a:prstGeom prst="roundRect">
            <a:avLst>
              <a:gd fmla="val 50000" name="adj"/>
            </a:avLst>
          </a:prstGeom>
          <a:solidFill>
            <a:srgbClr val="C9A2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7A1F2B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>
            <a:hlinkClick r:id="rId5"/>
          </p:cNvPr>
          <p:cNvSpPr/>
          <p:nvPr/>
        </p:nvSpPr>
        <p:spPr>
          <a:xfrm>
            <a:off x="9317736" y="69018"/>
            <a:ext cx="365760" cy="365760"/>
          </a:xfrm>
          <a:prstGeom prst="ellipse">
            <a:avLst/>
          </a:prstGeom>
          <a:solidFill>
            <a:srgbClr val="7A1F2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" name="Google Shape;48;p1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00032" y="15131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>
            <a:hlinkClick r:id="rId8"/>
          </p:cNvPr>
          <p:cNvSpPr txBox="1"/>
          <p:nvPr/>
        </p:nvSpPr>
        <p:spPr>
          <a:xfrm>
            <a:off x="9747504" y="41586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rPr>
              <a:t>LIHAT DATA INTERAKTIF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121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4E1219"/>
                </a:solidFill>
                <a:latin typeface="Calibri"/>
                <a:ea typeface="Calibri"/>
                <a:cs typeface="Calibri"/>
                <a:sym typeface="Calibri"/>
              </a:rPr>
              <a:t>grafik bergerak  ›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>
            <a:hlinkClick r:id="rId9"/>
          </p:cNvPr>
          <p:cNvSpPr txBox="1"/>
          <p:nvPr/>
        </p:nvSpPr>
        <p:spPr>
          <a:xfrm>
            <a:off x="9262872" y="581625"/>
            <a:ext cx="246888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rPr>
              <a:t>Arahkan kursor ke tombol ini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untuk membuka grafik perkara BHP Medan.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>
            <p:ph idx="4294967295" type="sldNum"/>
          </p:nvPr>
        </p:nvSpPr>
        <p:spPr>
          <a:xfrm>
            <a:off x="1133856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8C8C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1"/>
          <p:cNvGrpSpPr/>
          <p:nvPr/>
        </p:nvGrpSpPr>
        <p:grpSpPr>
          <a:xfrm>
            <a:off x="609600" y="2590800"/>
            <a:ext cx="10972800" cy="533400"/>
            <a:chOff x="609600" y="2590800"/>
            <a:chExt cx="10972800" cy="533400"/>
          </a:xfrm>
        </p:grpSpPr>
        <p:sp>
          <p:nvSpPr>
            <p:cNvPr id="53" name="Google Shape;53;p1"/>
            <p:cNvSpPr/>
            <p:nvPr/>
          </p:nvSpPr>
          <p:spPr>
            <a:xfrm>
              <a:off x="609600" y="2590800"/>
              <a:ext cx="10972800" cy="533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E3DC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09600" y="2590800"/>
              <a:ext cx="939800" cy="533400"/>
            </a:xfrm>
            <a:prstGeom prst="roundRect">
              <a:avLst>
                <a:gd fmla="val 16667" name="adj"/>
              </a:avLst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Alur mekanisme</a:t>
              </a:r>
              <a:endParaRPr/>
            </a:p>
          </p:txBody>
        </p:sp>
        <p:sp>
          <p:nvSpPr>
            <p:cNvPr id="55" name="Google Shape;55;p1"/>
            <p:cNvSpPr/>
            <p:nvPr/>
          </p:nvSpPr>
          <p:spPr>
            <a:xfrm rot="5400000">
              <a:off x="2942771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1638300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1943100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Putusan pailit</a:t>
              </a:r>
              <a:endParaRPr/>
            </a:p>
          </p:txBody>
        </p:sp>
        <p:sp>
          <p:nvSpPr>
            <p:cNvPr id="58" name="Google Shape;58;p1"/>
            <p:cNvSpPr/>
            <p:nvPr/>
          </p:nvSpPr>
          <p:spPr>
            <a:xfrm rot="5400000">
              <a:off x="4361543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3057071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3361871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Penugasan tim Kurator</a:t>
              </a:r>
              <a:endParaRPr/>
            </a:p>
          </p:txBody>
        </p:sp>
        <p:sp>
          <p:nvSpPr>
            <p:cNvPr id="61" name="Google Shape;61;p1"/>
            <p:cNvSpPr/>
            <p:nvPr/>
          </p:nvSpPr>
          <p:spPr>
            <a:xfrm rot="5400000">
              <a:off x="5780314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4475843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4780643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Pengumuman &amp; rapat kreditor</a:t>
              </a:r>
              <a:endParaRPr/>
            </a:p>
          </p:txBody>
        </p:sp>
        <p:sp>
          <p:nvSpPr>
            <p:cNvPr id="64" name="Google Shape;64;p1"/>
            <p:cNvSpPr/>
            <p:nvPr/>
          </p:nvSpPr>
          <p:spPr>
            <a:xfrm rot="5400000">
              <a:off x="7199086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5894614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199414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Pencatatan harta &amp; tagihan</a:t>
              </a:r>
              <a:endParaRPr/>
            </a:p>
          </p:txBody>
        </p:sp>
        <p:sp>
          <p:nvSpPr>
            <p:cNvPr id="67" name="Google Shape;67;p1"/>
            <p:cNvSpPr/>
            <p:nvPr/>
          </p:nvSpPr>
          <p:spPr>
            <a:xfrm rot="5400000">
              <a:off x="8617857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7313386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7618186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Penilaian &amp; lelang</a:t>
              </a:r>
              <a:endParaRPr/>
            </a:p>
          </p:txBody>
        </p:sp>
        <p:sp>
          <p:nvSpPr>
            <p:cNvPr id="70" name="Google Shape;70;p1"/>
            <p:cNvSpPr/>
            <p:nvPr/>
          </p:nvSpPr>
          <p:spPr>
            <a:xfrm rot="5400000">
              <a:off x="10036629" y="2806700"/>
              <a:ext cx="88900" cy="101600"/>
            </a:xfrm>
            <a:prstGeom prst="triangle">
              <a:avLst>
                <a:gd fmla="val 50000" name="adj"/>
              </a:avLst>
            </a:prstGeom>
            <a:solidFill>
              <a:srgbClr val="C9A0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8732157" y="2730500"/>
              <a:ext cx="254000" cy="254000"/>
            </a:xfrm>
            <a:prstGeom prst="ellipse">
              <a:avLst/>
            </a:prstGeom>
            <a:solidFill>
              <a:srgbClr val="7B1E2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9036957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2B2B2B"/>
                  </a:solidFill>
                  <a:latin typeface="Calibri"/>
                  <a:ea typeface="Calibri"/>
                  <a:cs typeface="Calibri"/>
                  <a:sym typeface="Calibri"/>
                </a:rPr>
                <a:t>Pembagian hasil</a:t>
              </a:r>
              <a:endParaRPr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10150929" y="2730500"/>
              <a:ext cx="254000" cy="254000"/>
            </a:xfrm>
            <a:prstGeom prst="ellipse">
              <a:avLst/>
            </a:prstGeom>
            <a:solidFill>
              <a:srgbClr val="C9A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10455729" y="2616200"/>
              <a:ext cx="986971" cy="4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7B1E2B"/>
                  </a:solidFill>
                  <a:latin typeface="Calibri"/>
                  <a:ea typeface="Calibri"/>
                  <a:cs typeface="Calibri"/>
                  <a:sym typeface="Calibri"/>
                </a:rPr>
                <a:t>Imbalan jasa  PNBP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idx="1" type="body"/>
          </p:nvPr>
        </p:nvSpPr>
        <p:spPr>
          <a:xfrm>
            <a:off x="457200" y="177800"/>
            <a:ext cx="1124712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</a:pPr>
            <a:r>
              <a:rPr b="1" lang="en-US" sz="1100">
                <a:solidFill>
                  <a:schemeClr val="accent2"/>
                </a:solidFill>
              </a:rPr>
              <a:t>POKOK BAHASAN 1 KEWENANGAN DAN KOORDINASI  ·  </a:t>
            </a:r>
            <a:r>
              <a:rPr lang="en-US"/>
              <a:t>DATA PERKARA BHP MEDAN</a:t>
            </a:r>
            <a:endParaRPr sz="1100"/>
          </a:p>
        </p:txBody>
      </p:sp>
      <p:sp>
        <p:nvSpPr>
          <p:cNvPr id="81" name="Google Shape;81;p2"/>
          <p:cNvSpPr txBox="1"/>
          <p:nvPr>
            <p:ph type="title"/>
          </p:nvPr>
        </p:nvSpPr>
        <p:spPr>
          <a:xfrm>
            <a:off x="457200" y="355600"/>
            <a:ext cx="112471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Perkara Kepailitan</a:t>
            </a:r>
            <a:r>
              <a:rPr lang="en-US"/>
              <a:t> </a:t>
            </a:r>
            <a:r>
              <a:rPr b="1" lang="en-US" sz="2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BHP Medan</a:t>
            </a:r>
            <a:endParaRPr sz="2800"/>
          </a:p>
        </p:txBody>
      </p:sp>
      <p:sp>
        <p:nvSpPr>
          <p:cNvPr id="82" name="Google Shape;82;p2">
            <a:hlinkClick r:id="rId3"/>
          </p:cNvPr>
          <p:cNvSpPr/>
          <p:nvPr/>
        </p:nvSpPr>
        <p:spPr>
          <a:xfrm>
            <a:off x="9189720" y="100584"/>
            <a:ext cx="2615184" cy="566928"/>
          </a:xfrm>
          <a:prstGeom prst="roundRect">
            <a:avLst>
              <a:gd fmla="val 50000" name="adj"/>
            </a:avLst>
          </a:prstGeom>
          <a:solidFill>
            <a:srgbClr val="C9A24A">
              <a:alpha val="20000"/>
            </a:srgbClr>
          </a:solidFill>
          <a:ln cap="flat" cmpd="sng" w="22225">
            <a:solidFill>
              <a:srgbClr val="C9A24A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>
            <a:hlinkClick r:id="rId4"/>
          </p:cNvPr>
          <p:cNvSpPr/>
          <p:nvPr/>
        </p:nvSpPr>
        <p:spPr>
          <a:xfrm>
            <a:off x="9262872" y="155448"/>
            <a:ext cx="2468880" cy="457200"/>
          </a:xfrm>
          <a:prstGeom prst="roundRect">
            <a:avLst>
              <a:gd fmla="val 50000" name="adj"/>
            </a:avLst>
          </a:prstGeom>
          <a:solidFill>
            <a:srgbClr val="C9A2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7A1F2B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>
            <a:hlinkClick r:id="rId5"/>
          </p:cNvPr>
          <p:cNvSpPr/>
          <p:nvPr/>
        </p:nvSpPr>
        <p:spPr>
          <a:xfrm>
            <a:off x="9317736" y="201168"/>
            <a:ext cx="365760" cy="365760"/>
          </a:xfrm>
          <a:prstGeom prst="ellipse">
            <a:avLst/>
          </a:prstGeom>
          <a:solidFill>
            <a:srgbClr val="7A1F2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2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00032" y="28346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>
            <a:hlinkClick r:id="rId8"/>
          </p:cNvPr>
          <p:cNvSpPr txBox="1"/>
          <p:nvPr/>
        </p:nvSpPr>
        <p:spPr>
          <a:xfrm>
            <a:off x="9747504" y="173736"/>
            <a:ext cx="19385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rPr>
              <a:t>LIHAT DATA INTERAKTIF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1219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4E1219"/>
                </a:solidFill>
                <a:latin typeface="Calibri"/>
                <a:ea typeface="Calibri"/>
                <a:cs typeface="Calibri"/>
                <a:sym typeface="Calibri"/>
              </a:rPr>
              <a:t>grafik bergerak  ›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>
            <a:hlinkClick r:id="rId9"/>
          </p:cNvPr>
          <p:cNvSpPr txBox="1"/>
          <p:nvPr/>
        </p:nvSpPr>
        <p:spPr>
          <a:xfrm>
            <a:off x="9400032" y="660400"/>
            <a:ext cx="2398268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1F2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7A1F2B"/>
                </a:solidFill>
                <a:latin typeface="Calibri"/>
                <a:ea typeface="Calibri"/>
                <a:cs typeface="Calibri"/>
                <a:sym typeface="Calibri"/>
              </a:rPr>
              <a:t>Arahkan kursor ke tombol ini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untuk membuka grafik perkara BHP Medan.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 txBox="1"/>
          <p:nvPr>
            <p:ph idx="4294967295" type="sldNum"/>
          </p:nvPr>
        </p:nvSpPr>
        <p:spPr>
          <a:xfrm>
            <a:off x="1133856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900">
                <a:solidFill>
                  <a:srgbClr val="8C8C8C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C8C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9" name="Google Shape;89;p2"/>
          <p:cNvGraphicFramePr/>
          <p:nvPr/>
        </p:nvGraphicFramePr>
        <p:xfrm>
          <a:off x="457200" y="203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{3C236144-A4EE-4B44-B41C-F018C5874E7C}</a:tableStyleId>
              </a:tblPr>
              <a:tblGrid>
                <a:gridCol w="431800"/>
                <a:gridCol w="3683000"/>
                <a:gridCol w="4241800"/>
                <a:gridCol w="29210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chemeClr val="accent1"/>
                          </a:solidFill>
                        </a:rPr>
                        <a:t>No</a:t>
                      </a:r>
                      <a:endParaRPr u="none" cap="none" strike="noStrike"/>
                    </a:p>
                  </a:txBody>
                  <a:tcPr marT="0" marB="38100" marR="68575" marL="6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chemeClr val="accent1"/>
                          </a:solidFill>
                        </a:rPr>
                        <a:t>Nomor perkara dan tanggal putusan pailit</a:t>
                      </a:r>
                      <a:endParaRPr u="none" cap="none" strike="noStrike"/>
                    </a:p>
                  </a:txBody>
                  <a:tcPr marT="0" marB="38100" marR="68575" marL="6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chemeClr val="accent1"/>
                          </a:solidFill>
                        </a:rPr>
                        <a:t>Debitor dan domisili</a:t>
                      </a:r>
                      <a:endParaRPr u="none" cap="none" strike="noStrike"/>
                    </a:p>
                  </a:txBody>
                  <a:tcPr marT="0" marB="38100" marR="68575" marL="6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none" cap="none" strike="noStrike">
                          <a:solidFill>
                            <a:schemeClr val="accent1"/>
                          </a:solidFill>
                        </a:rPr>
                        <a:t>Pemohon Pailit</a:t>
                      </a:r>
                      <a:endParaRPr u="none" cap="none" strike="noStrike"/>
                    </a:p>
                  </a:txBody>
                  <a:tcPr marT="0" marB="38100" marR="68575" marL="6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1.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2/Pdt.Sus-Pailit/2016/PN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17 Februari 2016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Gwe Tjoen alias Atman Wiratman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Binjai,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Debitor sendiri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2.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01/Pdt.Sus-Pailit/2017/PN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25 April 2017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Muhammad Arifin Hasibuan (CV Hitado)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Muhammad Arifin Nasution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3.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2/Pdt.Sus-Pailit/2018/PN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28 Juni 2018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PT Pro Mekanika Indonusa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PT Trimurti Perkasa dan Hotmaulin Simare Mare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4.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7/Pdt.Sus-Pailit/2018/PN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20 Desember 2018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Badaruddin HSB bin Multen Hasibuan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Aceh Singkil, Aceh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Debitor sendiri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5.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8/Pdt.Sus-Pailit/2019/PN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8 November 2019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Suparjo Rustam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Debitor sendiri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6.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2/Pdt.Sus-Pailit/2020/PN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12 Maret 2020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PT Rimba Cipta Niaga (Direktur Hermanto)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Debitor sendiri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7.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33/Pdt.Sus-PKPU/2022/PN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10 April 2023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PT Rata Makmur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 dan Langkat,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Samin K dan kawan-kawan (eks pekerja)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8.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6/Pdt.Sus-Pailit/2023/PN Niaga Mdn jo. 1123 K/Pdt.Sus-Pailit/2023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17 Oktober 2023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KSO PT Maju Abadi Jaya Utama dan PT Kurnia Putra Maduma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Koperasi Yantek Maju Bersama dan kawan-kawan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9.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12/Pdt.Sus-Pailit/2025/PN Niaga Mdn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11 Desember 2025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Frans Winner</a:t>
                      </a:r>
                      <a:endParaRPr sz="1600" u="none" cap="none" strike="noStrike"/>
                    </a:p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6B6B6B"/>
                          </a:solidFill>
                        </a:rPr>
                        <a:t>Medan, Sumatera Utara</a:t>
                      </a:r>
                      <a:endParaRPr sz="125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62626"/>
                          </a:solidFill>
                        </a:rPr>
                        <a:t>Salim Hadi Saputra dan Maratur P. Siregar</a:t>
                      </a:r>
                      <a:endParaRPr sz="1600" u="none" cap="none" strike="noStrike"/>
                    </a:p>
                  </a:txBody>
                  <a:tcPr marT="9525" marB="9525" marR="68575" marL="6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0" name="Google Shape;90;p2"/>
          <p:cNvGrpSpPr/>
          <p:nvPr/>
        </p:nvGrpSpPr>
        <p:grpSpPr>
          <a:xfrm>
            <a:off x="457200" y="1066800"/>
            <a:ext cx="11277600" cy="863600"/>
            <a:chOff x="457200" y="1066800"/>
            <a:chExt cx="11277600" cy="863600"/>
          </a:xfrm>
        </p:grpSpPr>
        <p:sp>
          <p:nvSpPr>
            <p:cNvPr id="91" name="Google Shape;91;p2"/>
            <p:cNvSpPr/>
            <p:nvPr/>
          </p:nvSpPr>
          <p:spPr>
            <a:xfrm>
              <a:off x="457200" y="1066800"/>
              <a:ext cx="11277600" cy="863600"/>
            </a:xfrm>
            <a:prstGeom prst="roundRect">
              <a:avLst>
                <a:gd fmla="val 9091" name="adj"/>
              </a:avLst>
            </a:prstGeom>
            <a:solidFill>
              <a:srgbClr val="7A1F2B"/>
            </a:solidFill>
            <a:ln cap="flat" cmpd="sng" w="12700">
              <a:solidFill>
                <a:srgbClr val="7A1F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2"/>
            <p:cNvSpPr txBox="1"/>
            <p:nvPr/>
          </p:nvSpPr>
          <p:spPr>
            <a:xfrm>
              <a:off x="660400" y="1066800"/>
              <a:ext cx="1422400" cy="8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CB80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E8CB80"/>
                  </a:solidFill>
                  <a:latin typeface="Calibri"/>
                  <a:ea typeface="Calibri"/>
                  <a:cs typeface="Calibri"/>
                  <a:sym typeface="Calibri"/>
                </a:rPr>
                <a:t>PERKARA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CB80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E8CB80"/>
                  </a:solidFill>
                  <a:latin typeface="Calibri"/>
                  <a:ea typeface="Calibri"/>
                  <a:cs typeface="Calibri"/>
                  <a:sym typeface="Calibri"/>
                </a:rPr>
                <a:t>BHP MEDAN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2235200" y="1130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A24A"/>
                </a:buClr>
                <a:buSzPts val="2600"/>
                <a:buFont typeface="Cambria"/>
                <a:buNone/>
              </a:pPr>
              <a:r>
                <a:rPr b="1" lang="en-US" sz="2600">
                  <a:solidFill>
                    <a:srgbClr val="C9A24A"/>
                  </a:solidFill>
                  <a:latin typeface="Cambria"/>
                  <a:ea typeface="Cambria"/>
                  <a:cs typeface="Cambria"/>
                  <a:sym typeface="Cambria"/>
                </a:rPr>
                <a:t>9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2235200" y="1511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perkara kepailitan sedang ditangani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4572000" y="1130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A24A"/>
                </a:buClr>
                <a:buSzPts val="2600"/>
                <a:buFont typeface="Cambria"/>
                <a:buNone/>
              </a:pPr>
              <a:r>
                <a:rPr b="1" lang="en-US" sz="2600">
                  <a:solidFill>
                    <a:srgbClr val="C9A24A"/>
                  </a:solidFill>
                  <a:latin typeface="Cambria"/>
                  <a:ea typeface="Cambria"/>
                  <a:cs typeface="Cambria"/>
                  <a:sym typeface="Cambria"/>
                </a:rPr>
                <a:t>Rp47,35 M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4572000" y="1511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total tagihan kreditor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6908800" y="1130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A24A"/>
                </a:buClr>
                <a:buSzPts val="2600"/>
                <a:buFont typeface="Cambria"/>
                <a:buNone/>
              </a:pPr>
              <a:r>
                <a:rPr b="1" lang="en-US" sz="2600">
                  <a:solidFill>
                    <a:srgbClr val="C9A24A"/>
                  </a:solidFill>
                  <a:latin typeface="Cambria"/>
                  <a:ea typeface="Cambria"/>
                  <a:cs typeface="Cambria"/>
                  <a:sym typeface="Cambria"/>
                </a:rPr>
                <a:t>1 dari 9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6908800" y="1511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putusan pailit 2025 </a:t>
              </a: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menunjuk</a:t>
              </a: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BHP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9245600" y="1130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A24A"/>
                </a:buClr>
                <a:buSzPts val="2600"/>
                <a:buFont typeface="Cambria"/>
                <a:buNone/>
              </a:pPr>
              <a:r>
                <a:rPr b="1" lang="en-US" sz="2600">
                  <a:solidFill>
                    <a:srgbClr val="C9A24A"/>
                  </a:solidFill>
                  <a:latin typeface="Cambria"/>
                  <a:ea typeface="Cambria"/>
                  <a:cs typeface="Cambria"/>
                  <a:sym typeface="Cambria"/>
                </a:rPr>
                <a:t>0 dari 7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9245600" y="1511300"/>
              <a:ext cx="2209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putusan pailit 2026 </a:t>
              </a: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menunjuk</a:t>
              </a: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BHP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8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BHP Medan Maroon">
  <a:themeElements>
    <a:clrScheme name="BHP Medan Maroon">
      <a:dk1>
        <a:srgbClr val="2B2B2B"/>
      </a:dk1>
      <a:lt1>
        <a:srgbClr val="FFFFFF"/>
      </a:lt1>
      <a:dk2>
        <a:srgbClr val="5A1420"/>
      </a:dk2>
      <a:lt2>
        <a:srgbClr val="F4F4F6"/>
      </a:lt2>
      <a:accent1>
        <a:srgbClr val="7A1F2B"/>
      </a:accent1>
      <a:accent2>
        <a:srgbClr val="C9A24A"/>
      </a:accent2>
      <a:accent3>
        <a:srgbClr val="4E1219"/>
      </a:accent3>
      <a:accent4>
        <a:srgbClr val="8C8C8C"/>
      </a:accent4>
      <a:accent5>
        <a:srgbClr val="E9D9B0"/>
      </a:accent5>
      <a:accent6>
        <a:srgbClr val="3F5E7A"/>
      </a:accent6>
      <a:hlink>
        <a:srgbClr val="7A1F2B"/>
      </a:hlink>
      <a:folHlink>
        <a:srgbClr val="4E121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2026-10-02T23:24:55Z</dcterms:created>
  <dc:creator>BHP Medan</dc:creator>
</cp:coreProperties>
</file>